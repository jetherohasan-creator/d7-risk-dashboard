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4059936"/>
  <p:notesSz cx="4059936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5" y="85342"/>
            <a:ext cx="11990532" cy="2389572"/>
          </a:xfrm>
          <a:prstGeom prst="roundRect">
            <a:avLst>
              <a:gd name="adj" fmla="val 3061"/>
            </a:avLst>
          </a:prstGeom>
          <a:solidFill>
            <a:srgbClr val="F7FAFD"/>
          </a:solidFill>
          <a:ln w="9525">
            <a:solidFill>
              <a:srgbClr val="DCE5F0"/>
            </a:solidFill>
            <a:prstDash val="solid"/>
          </a:ln>
          <a:effectLst>
            <a:outerShdw sx="100000" sy="100000" kx="0" ky="0" algn="bl" rotWithShape="0" blurRad="38100" dist="12700" dir="5400000">
              <a:srgbClr val="8FA3BF">
                <a:alpha val="2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5" y="73150"/>
            <a:ext cx="11990532" cy="46328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84" y="195067"/>
            <a:ext cx="219451" cy="21945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2735" y="158492"/>
            <a:ext cx="5486263" cy="2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Realisasi Parameter 2027 – NPK</a:t>
            </a:r>
            <a:endParaRPr lang="en-US" sz="1580" dirty="0"/>
          </a:p>
        </p:txBody>
      </p:sp>
      <p:sp>
        <p:nvSpPr>
          <p:cNvPr id="6" name="Shape 2"/>
          <p:cNvSpPr/>
          <p:nvPr/>
        </p:nvSpPr>
        <p:spPr>
          <a:xfrm>
            <a:off x="262121" y="688831"/>
            <a:ext cx="335272" cy="621776"/>
          </a:xfrm>
          <a:prstGeom prst="roundRect">
            <a:avLst>
              <a:gd name="adj" fmla="val 10909"/>
            </a:avLst>
          </a:prstGeom>
          <a:solidFill>
            <a:srgbClr val="16386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274313" y="713214"/>
            <a:ext cx="310888" cy="57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90" dirty="0"/>
          </a:p>
        </p:txBody>
      </p:sp>
      <p:sp>
        <p:nvSpPr>
          <p:cNvPr id="8" name="Shape 4"/>
          <p:cNvSpPr/>
          <p:nvPr/>
        </p:nvSpPr>
        <p:spPr>
          <a:xfrm>
            <a:off x="262121" y="1341086"/>
            <a:ext cx="335272" cy="1036294"/>
          </a:xfrm>
          <a:prstGeom prst="roundRect">
            <a:avLst>
              <a:gd name="adj" fmla="val 10909"/>
            </a:avLst>
          </a:prstGeom>
          <a:solidFill>
            <a:srgbClr val="F3F7FC"/>
          </a:solidFill>
          <a:ln w="6350">
            <a:solidFill>
              <a:srgbClr val="E1E9F3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27872" y="688831"/>
            <a:ext cx="1261840" cy="621776"/>
          </a:xfrm>
          <a:prstGeom prst="roundRect">
            <a:avLst>
              <a:gd name="adj" fmla="val 5883"/>
            </a:avLst>
          </a:prstGeom>
          <a:solidFill>
            <a:srgbClr val="16386F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0064" y="713214"/>
            <a:ext cx="1237457" cy="57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 Produk/ Service</a:t>
            </a:r>
            <a:endParaRPr lang="en-US" sz="79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Perusahaan</a:t>
            </a:r>
            <a:endParaRPr lang="en-US" sz="790" dirty="0"/>
          </a:p>
        </p:txBody>
      </p:sp>
      <p:sp>
        <p:nvSpPr>
          <p:cNvPr id="11" name="Shape 7"/>
          <p:cNvSpPr/>
          <p:nvPr/>
        </p:nvSpPr>
        <p:spPr>
          <a:xfrm>
            <a:off x="627872" y="1341086"/>
            <a:ext cx="1261840" cy="1036294"/>
          </a:xfrm>
          <a:prstGeom prst="roundRect">
            <a:avLst>
              <a:gd name="adj" fmla="val 3530"/>
            </a:avLst>
          </a:prstGeom>
          <a:solidFill>
            <a:srgbClr val="F3F7FC"/>
          </a:solidFill>
          <a:ln w="6350">
            <a:solidFill>
              <a:srgbClr val="E1E9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6288" y="688831"/>
            <a:ext cx="920473" cy="621776"/>
          </a:xfrm>
          <a:prstGeom prst="roundRect">
            <a:avLst>
              <a:gd name="adj" fmla="val 5883"/>
            </a:avLst>
          </a:prstGeom>
          <a:solidFill>
            <a:srgbClr val="16386F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1938480" y="713214"/>
            <a:ext cx="896090" cy="57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79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Penjualan 2026</a:t>
            </a:r>
            <a:endParaRPr lang="en-US" sz="79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(Prognosa)</a:t>
            </a:r>
            <a:endParaRPr lang="en-US" sz="790" dirty="0"/>
          </a:p>
        </p:txBody>
      </p:sp>
      <p:sp>
        <p:nvSpPr>
          <p:cNvPr id="14" name="Shape 10"/>
          <p:cNvSpPr/>
          <p:nvPr/>
        </p:nvSpPr>
        <p:spPr>
          <a:xfrm>
            <a:off x="1926288" y="1341086"/>
            <a:ext cx="920473" cy="1036294"/>
          </a:xfrm>
          <a:prstGeom prst="roundRect">
            <a:avLst>
              <a:gd name="adj" fmla="val 3974"/>
            </a:avLst>
          </a:prstGeom>
          <a:solidFill>
            <a:srgbClr val="F3F7FC"/>
          </a:solidFill>
          <a:ln w="6350">
            <a:solidFill>
              <a:srgbClr val="E1E9F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877240" y="688831"/>
            <a:ext cx="1206978" cy="621776"/>
          </a:xfrm>
          <a:prstGeom prst="roundRect">
            <a:avLst>
              <a:gd name="adj" fmla="val 5883"/>
            </a:avLst>
          </a:prstGeom>
          <a:solidFill>
            <a:srgbClr val="16386F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2889432" y="713214"/>
            <a:ext cx="1182594" cy="57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Penjualan/</a:t>
            </a:r>
            <a:endParaRPr lang="en-US" sz="79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Perusahaan</a:t>
            </a:r>
            <a:endParaRPr lang="en-US" sz="79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(Prognosa)</a:t>
            </a:r>
            <a:endParaRPr lang="en-US" sz="790" dirty="0"/>
          </a:p>
        </p:txBody>
      </p:sp>
      <p:sp>
        <p:nvSpPr>
          <p:cNvPr id="17" name="Shape 13"/>
          <p:cNvSpPr/>
          <p:nvPr/>
        </p:nvSpPr>
        <p:spPr>
          <a:xfrm>
            <a:off x="2877240" y="1341086"/>
            <a:ext cx="1206978" cy="1036294"/>
          </a:xfrm>
          <a:prstGeom prst="roundRect">
            <a:avLst>
              <a:gd name="adj" fmla="val 3530"/>
            </a:avLst>
          </a:prstGeom>
          <a:solidFill>
            <a:srgbClr val="F3F7FC"/>
          </a:solidFill>
          <a:ln w="6350">
            <a:solidFill>
              <a:srgbClr val="E1E9F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120793" y="688831"/>
            <a:ext cx="1200882" cy="621776"/>
          </a:xfrm>
          <a:prstGeom prst="roundRect">
            <a:avLst>
              <a:gd name="adj" fmla="val 5883"/>
            </a:avLst>
          </a:prstGeom>
          <a:solidFill>
            <a:srgbClr val="16386F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132985" y="713214"/>
            <a:ext cx="1176499" cy="57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Total Sales</a:t>
            </a:r>
            <a:endParaRPr lang="en-US" sz="79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(Prognosa)</a:t>
            </a:r>
            <a:endParaRPr lang="en-US" sz="790" dirty="0"/>
          </a:p>
        </p:txBody>
      </p:sp>
      <p:sp>
        <p:nvSpPr>
          <p:cNvPr id="20" name="Shape 16"/>
          <p:cNvSpPr/>
          <p:nvPr/>
        </p:nvSpPr>
        <p:spPr>
          <a:xfrm>
            <a:off x="4120793" y="1341086"/>
            <a:ext cx="1200882" cy="1036294"/>
          </a:xfrm>
          <a:prstGeom prst="roundRect">
            <a:avLst>
              <a:gd name="adj" fmla="val 3530"/>
            </a:avLst>
          </a:prstGeom>
          <a:solidFill>
            <a:srgbClr val="F3F7FC"/>
          </a:solidFill>
          <a:ln w="6350">
            <a:solidFill>
              <a:srgbClr val="E1E9F3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352154" y="688831"/>
            <a:ext cx="963144" cy="621776"/>
          </a:xfrm>
          <a:prstGeom prst="roundRect">
            <a:avLst>
              <a:gd name="adj" fmla="val 5883"/>
            </a:avLst>
          </a:prstGeom>
          <a:solidFill>
            <a:srgbClr val="16386F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5364346" y="713214"/>
            <a:ext cx="938761" cy="57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</a:t>
            </a:r>
            <a:endParaRPr lang="en-US" sz="79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790" dirty="0"/>
          </a:p>
        </p:txBody>
      </p:sp>
      <p:sp>
        <p:nvSpPr>
          <p:cNvPr id="23" name="Shape 19"/>
          <p:cNvSpPr/>
          <p:nvPr/>
        </p:nvSpPr>
        <p:spPr>
          <a:xfrm>
            <a:off x="5352154" y="1341086"/>
            <a:ext cx="963144" cy="1036294"/>
          </a:xfrm>
          <a:prstGeom prst="roundRect">
            <a:avLst>
              <a:gd name="adj" fmla="val 3798"/>
            </a:avLst>
          </a:prstGeom>
          <a:solidFill>
            <a:srgbClr val="E7F0FA"/>
          </a:solidFill>
          <a:ln w="6350">
            <a:solidFill>
              <a:srgbClr val="E1E9F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351873" y="688831"/>
            <a:ext cx="999719" cy="621776"/>
          </a:xfrm>
          <a:prstGeom prst="roundRect">
            <a:avLst>
              <a:gd name="adj" fmla="val 5883"/>
            </a:avLst>
          </a:prstGeom>
          <a:solidFill>
            <a:srgbClr val="16386F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364065" y="713214"/>
            <a:ext cx="975336" cy="57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Volume</a:t>
            </a:r>
            <a:endParaRPr lang="en-US" sz="79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Penjualan 2027</a:t>
            </a:r>
            <a:endParaRPr lang="en-US" sz="79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(Prognosa)</a:t>
            </a:r>
            <a:endParaRPr lang="en-US" sz="790" dirty="0"/>
          </a:p>
        </p:txBody>
      </p:sp>
      <p:sp>
        <p:nvSpPr>
          <p:cNvPr id="26" name="Shape 22"/>
          <p:cNvSpPr/>
          <p:nvPr/>
        </p:nvSpPr>
        <p:spPr>
          <a:xfrm>
            <a:off x="6351873" y="1341086"/>
            <a:ext cx="999719" cy="1036294"/>
          </a:xfrm>
          <a:prstGeom prst="roundRect">
            <a:avLst>
              <a:gd name="adj" fmla="val 3659"/>
            </a:avLst>
          </a:prstGeom>
          <a:solidFill>
            <a:srgbClr val="F3F7FC"/>
          </a:solidFill>
          <a:ln w="6350">
            <a:solidFill>
              <a:srgbClr val="E1E9F3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88167" y="688831"/>
            <a:ext cx="591297" cy="621776"/>
          </a:xfrm>
          <a:prstGeom prst="roundRect">
            <a:avLst>
              <a:gd name="adj" fmla="val 6186"/>
            </a:avLst>
          </a:prstGeom>
          <a:solidFill>
            <a:srgbClr val="16386F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400359" y="713214"/>
            <a:ext cx="566914" cy="57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79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Satuan</a:t>
            </a:r>
            <a:endParaRPr lang="en-US" sz="79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790" dirty="0"/>
          </a:p>
        </p:txBody>
      </p:sp>
      <p:sp>
        <p:nvSpPr>
          <p:cNvPr id="29" name="Shape 25"/>
          <p:cNvSpPr/>
          <p:nvPr/>
        </p:nvSpPr>
        <p:spPr>
          <a:xfrm>
            <a:off x="7388167" y="1341086"/>
            <a:ext cx="591297" cy="1036294"/>
          </a:xfrm>
          <a:prstGeom prst="roundRect">
            <a:avLst>
              <a:gd name="adj" fmla="val 6186"/>
            </a:avLst>
          </a:prstGeom>
          <a:solidFill>
            <a:srgbClr val="F3F7FC"/>
          </a:solidFill>
          <a:ln w="6350">
            <a:solidFill>
              <a:srgbClr val="E1E9F3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009944" y="688831"/>
            <a:ext cx="1194786" cy="621776"/>
          </a:xfrm>
          <a:prstGeom prst="roundRect">
            <a:avLst>
              <a:gd name="adj" fmla="val 5883"/>
            </a:avLst>
          </a:prstGeom>
          <a:solidFill>
            <a:srgbClr val="16386F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8022135" y="713214"/>
            <a:ext cx="1170403" cy="57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Total</a:t>
            </a:r>
            <a:endParaRPr lang="en-US" sz="79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Penjualan/ Revenue</a:t>
            </a:r>
            <a:endParaRPr lang="en-US" sz="79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Perusahaan 2027</a:t>
            </a:r>
            <a:endParaRPr lang="en-US" sz="790" dirty="0"/>
          </a:p>
        </p:txBody>
      </p:sp>
      <p:sp>
        <p:nvSpPr>
          <p:cNvPr id="32" name="Shape 28"/>
          <p:cNvSpPr/>
          <p:nvPr/>
        </p:nvSpPr>
        <p:spPr>
          <a:xfrm>
            <a:off x="8009944" y="1341086"/>
            <a:ext cx="1194786" cy="1036294"/>
          </a:xfrm>
          <a:prstGeom prst="roundRect">
            <a:avLst>
              <a:gd name="adj" fmla="val 3530"/>
            </a:avLst>
          </a:prstGeom>
          <a:solidFill>
            <a:srgbClr val="F3F7FC"/>
          </a:solidFill>
          <a:ln w="6350">
            <a:solidFill>
              <a:srgbClr val="E1E9F3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9241305" y="688831"/>
            <a:ext cx="1188690" cy="621776"/>
          </a:xfrm>
          <a:prstGeom prst="roundRect">
            <a:avLst>
              <a:gd name="adj" fmla="val 5883"/>
            </a:avLst>
          </a:prstGeom>
          <a:solidFill>
            <a:srgbClr val="16386F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9253497" y="713214"/>
            <a:ext cx="1164307" cy="57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Total Sales</a:t>
            </a:r>
            <a:endParaRPr lang="en-US" sz="79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(Proyeksi)</a:t>
            </a:r>
            <a:endParaRPr lang="en-US" sz="790" dirty="0"/>
          </a:p>
        </p:txBody>
      </p:sp>
      <p:sp>
        <p:nvSpPr>
          <p:cNvPr id="35" name="Shape 31"/>
          <p:cNvSpPr/>
          <p:nvPr/>
        </p:nvSpPr>
        <p:spPr>
          <a:xfrm>
            <a:off x="9241305" y="1341086"/>
            <a:ext cx="1188690" cy="1036294"/>
          </a:xfrm>
          <a:prstGeom prst="roundRect">
            <a:avLst>
              <a:gd name="adj" fmla="val 3530"/>
            </a:avLst>
          </a:prstGeom>
          <a:solidFill>
            <a:srgbClr val="F3F7FC"/>
          </a:solidFill>
          <a:ln w="6350">
            <a:solidFill>
              <a:srgbClr val="E1E9F3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0466570" y="688831"/>
            <a:ext cx="676639" cy="621776"/>
          </a:xfrm>
          <a:prstGeom prst="roundRect">
            <a:avLst>
              <a:gd name="adj" fmla="val 5883"/>
            </a:avLst>
          </a:prstGeom>
          <a:solidFill>
            <a:srgbClr val="16386F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10478762" y="713214"/>
            <a:ext cx="652256" cy="57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79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</a:t>
            </a:r>
            <a:endParaRPr lang="en-US" sz="79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790" dirty="0"/>
          </a:p>
        </p:txBody>
      </p:sp>
      <p:sp>
        <p:nvSpPr>
          <p:cNvPr id="38" name="Shape 34"/>
          <p:cNvSpPr/>
          <p:nvPr/>
        </p:nvSpPr>
        <p:spPr>
          <a:xfrm>
            <a:off x="10466570" y="1341086"/>
            <a:ext cx="676639" cy="1036294"/>
          </a:xfrm>
          <a:prstGeom prst="roundRect">
            <a:avLst>
              <a:gd name="adj" fmla="val 5406"/>
            </a:avLst>
          </a:prstGeom>
          <a:solidFill>
            <a:srgbClr val="E7F0FA"/>
          </a:solidFill>
          <a:ln w="6350">
            <a:solidFill>
              <a:srgbClr val="E1E9F3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1173689" y="688831"/>
            <a:ext cx="798556" cy="621776"/>
          </a:xfrm>
          <a:prstGeom prst="roundRect">
            <a:avLst>
              <a:gd name="adj" fmla="val 5883"/>
            </a:avLst>
          </a:prstGeom>
          <a:solidFill>
            <a:srgbClr val="16386F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11185880" y="713214"/>
            <a:ext cx="774173" cy="573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Kenaikan</a:t>
            </a:r>
            <a:endParaRPr lang="en-US" sz="79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(Penurunan)</a:t>
            </a:r>
            <a:endParaRPr lang="en-US" sz="79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</a:t>
            </a:r>
            <a:endParaRPr lang="en-US" sz="79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790" dirty="0"/>
          </a:p>
        </p:txBody>
      </p:sp>
      <p:sp>
        <p:nvSpPr>
          <p:cNvPr id="41" name="Shape 37"/>
          <p:cNvSpPr/>
          <p:nvPr/>
        </p:nvSpPr>
        <p:spPr>
          <a:xfrm>
            <a:off x="11173689" y="1341086"/>
            <a:ext cx="798556" cy="1036294"/>
          </a:xfrm>
          <a:prstGeom prst="roundRect">
            <a:avLst>
              <a:gd name="adj" fmla="val 4580"/>
            </a:avLst>
          </a:prstGeom>
          <a:solidFill>
            <a:srgbClr val="FDEFF1"/>
          </a:solidFill>
          <a:ln w="6350">
            <a:solidFill>
              <a:srgbClr val="E1E9F3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262121" y="1767796"/>
            <a:ext cx="335272" cy="195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6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60" dirty="0"/>
          </a:p>
        </p:txBody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68" y="1450812"/>
            <a:ext cx="963144" cy="475476"/>
          </a:xfrm>
          <a:prstGeom prst="rect">
            <a:avLst/>
          </a:prstGeom>
        </p:spPr>
      </p:pic>
      <p:sp>
        <p:nvSpPr>
          <p:cNvPr id="44" name="Text 39"/>
          <p:cNvSpPr txBox="1"/>
          <p:nvPr/>
        </p:nvSpPr>
        <p:spPr>
          <a:xfrm>
            <a:off x="627872" y="1962863"/>
            <a:ext cx="1261840" cy="268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40" b="1" dirty="0">
                <a:solidFill>
                  <a:srgbClr val="173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NPK</a:t>
            </a:r>
            <a:endParaRPr lang="en-US" sz="1440" dirty="0"/>
          </a:p>
        </p:txBody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8991" y="1438620"/>
            <a:ext cx="195067" cy="195067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1926288" y="1804371"/>
            <a:ext cx="920473" cy="207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1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4,637,556.00</a:t>
            </a:r>
            <a:endParaRPr lang="en-US" sz="910" dirty="0"/>
          </a:p>
        </p:txBody>
      </p:sp>
      <p:sp>
        <p:nvSpPr>
          <p:cNvPr id="47" name="Shape 41"/>
          <p:cNvSpPr/>
          <p:nvPr/>
        </p:nvSpPr>
        <p:spPr>
          <a:xfrm>
            <a:off x="2011630" y="2078684"/>
            <a:ext cx="749789" cy="48767"/>
          </a:xfrm>
          <a:prstGeom prst="roundRect">
            <a:avLst>
              <a:gd name="adj" fmla="val 937519"/>
            </a:avLst>
          </a:prstGeom>
          <a:solidFill>
            <a:srgbClr val="D7E1EC"/>
          </a:solidFill>
          <a:ln/>
        </p:spPr>
      </p:sp>
      <p:sp>
        <p:nvSpPr>
          <p:cNvPr id="48" name="Shape 42"/>
          <p:cNvSpPr/>
          <p:nvPr/>
        </p:nvSpPr>
        <p:spPr>
          <a:xfrm>
            <a:off x="2011630" y="2078684"/>
            <a:ext cx="449874" cy="48767"/>
          </a:xfrm>
          <a:prstGeom prst="roundRect">
            <a:avLst>
              <a:gd name="adj" fmla="val 937519"/>
            </a:avLst>
          </a:prstGeom>
          <a:solidFill>
            <a:srgbClr val="4F8FD8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1926288" y="2182313"/>
            <a:ext cx="920473" cy="134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7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</a:t>
            </a:r>
            <a:endParaRPr lang="en-US" sz="670" dirty="0"/>
          </a:p>
        </p:txBody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195" y="1438620"/>
            <a:ext cx="195067" cy="195067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2877240" y="1804371"/>
            <a:ext cx="1206978" cy="207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1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39,767,042,700,000</a:t>
            </a:r>
            <a:endParaRPr lang="en-US" sz="910" dirty="0"/>
          </a:p>
        </p:txBody>
      </p:sp>
      <p:sp>
        <p:nvSpPr>
          <p:cNvPr id="52" name="Shape 45"/>
          <p:cNvSpPr/>
          <p:nvPr/>
        </p:nvSpPr>
        <p:spPr>
          <a:xfrm>
            <a:off x="2962582" y="2078684"/>
            <a:ext cx="1036294" cy="48767"/>
          </a:xfrm>
          <a:prstGeom prst="roundRect">
            <a:avLst>
              <a:gd name="adj" fmla="val 937519"/>
            </a:avLst>
          </a:prstGeom>
          <a:solidFill>
            <a:srgbClr val="D7E1EC"/>
          </a:solidFill>
          <a:ln/>
        </p:spPr>
      </p:sp>
      <p:sp>
        <p:nvSpPr>
          <p:cNvPr id="53" name="Shape 46"/>
          <p:cNvSpPr/>
          <p:nvPr/>
        </p:nvSpPr>
        <p:spPr>
          <a:xfrm>
            <a:off x="2962582" y="2078684"/>
            <a:ext cx="393792" cy="48767"/>
          </a:xfrm>
          <a:prstGeom prst="roundRect">
            <a:avLst>
              <a:gd name="adj" fmla="val 937519"/>
            </a:avLst>
          </a:prstGeom>
          <a:solidFill>
            <a:srgbClr val="4F8FD8"/>
          </a:solidFill>
          <a:ln/>
        </p:spPr>
      </p:sp>
      <p:sp>
        <p:nvSpPr>
          <p:cNvPr id="54" name="Text 47"/>
          <p:cNvSpPr txBox="1"/>
          <p:nvPr/>
        </p:nvSpPr>
        <p:spPr>
          <a:xfrm>
            <a:off x="2877240" y="2182313"/>
            <a:ext cx="1206978" cy="134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7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</a:t>
            </a:r>
            <a:endParaRPr lang="en-US" sz="670" dirty="0"/>
          </a:p>
        </p:txBody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3700" y="1438620"/>
            <a:ext cx="195067" cy="195067"/>
          </a:xfrm>
          <a:prstGeom prst="rect">
            <a:avLst/>
          </a:prstGeom>
        </p:spPr>
      </p:pic>
      <p:sp>
        <p:nvSpPr>
          <p:cNvPr id="56" name="Text 48"/>
          <p:cNvSpPr txBox="1"/>
          <p:nvPr/>
        </p:nvSpPr>
        <p:spPr>
          <a:xfrm>
            <a:off x="4120793" y="1804371"/>
            <a:ext cx="1200882" cy="207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1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79,816,100,000,000</a:t>
            </a:r>
            <a:endParaRPr lang="en-US" sz="910" dirty="0"/>
          </a:p>
        </p:txBody>
      </p:sp>
      <p:sp>
        <p:nvSpPr>
          <p:cNvPr id="57" name="Shape 49"/>
          <p:cNvSpPr/>
          <p:nvPr/>
        </p:nvSpPr>
        <p:spPr>
          <a:xfrm>
            <a:off x="4206135" y="2078684"/>
            <a:ext cx="1030198" cy="48767"/>
          </a:xfrm>
          <a:prstGeom prst="roundRect">
            <a:avLst>
              <a:gd name="adj" fmla="val 937519"/>
            </a:avLst>
          </a:prstGeom>
          <a:solidFill>
            <a:srgbClr val="D7E1EC"/>
          </a:solidFill>
          <a:ln/>
        </p:spPr>
      </p:sp>
      <p:sp>
        <p:nvSpPr>
          <p:cNvPr id="58" name="Shape 50"/>
          <p:cNvSpPr/>
          <p:nvPr/>
        </p:nvSpPr>
        <p:spPr>
          <a:xfrm>
            <a:off x="4206135" y="2078684"/>
            <a:ext cx="391475" cy="48767"/>
          </a:xfrm>
          <a:prstGeom prst="roundRect">
            <a:avLst>
              <a:gd name="adj" fmla="val 937519"/>
            </a:avLst>
          </a:prstGeom>
          <a:solidFill>
            <a:srgbClr val="4F8FD8"/>
          </a:solidFill>
          <a:ln/>
        </p:spPr>
      </p:sp>
      <p:sp>
        <p:nvSpPr>
          <p:cNvPr id="59" name="Text 51"/>
          <p:cNvSpPr txBox="1"/>
          <p:nvPr/>
        </p:nvSpPr>
        <p:spPr>
          <a:xfrm>
            <a:off x="4120793" y="2182313"/>
            <a:ext cx="1200882" cy="134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7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</a:t>
            </a:r>
            <a:endParaRPr lang="en-US" sz="670" dirty="0"/>
          </a:p>
        </p:txBody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4199" y="1438620"/>
            <a:ext cx="195067" cy="195067"/>
          </a:xfrm>
          <a:prstGeom prst="rect">
            <a:avLst/>
          </a:prstGeom>
        </p:spPr>
      </p:pic>
      <p:sp>
        <p:nvSpPr>
          <p:cNvPr id="61" name="Text 52"/>
          <p:cNvSpPr txBox="1"/>
          <p:nvPr/>
        </p:nvSpPr>
        <p:spPr>
          <a:xfrm>
            <a:off x="6351873" y="1804371"/>
            <a:ext cx="999719" cy="207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1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4,733,931.00</a:t>
            </a:r>
            <a:endParaRPr lang="en-US" sz="910" dirty="0"/>
          </a:p>
        </p:txBody>
      </p:sp>
      <p:sp>
        <p:nvSpPr>
          <p:cNvPr id="62" name="Shape 53"/>
          <p:cNvSpPr/>
          <p:nvPr/>
        </p:nvSpPr>
        <p:spPr>
          <a:xfrm>
            <a:off x="6437215" y="2078684"/>
            <a:ext cx="829035" cy="48767"/>
          </a:xfrm>
          <a:prstGeom prst="roundRect">
            <a:avLst>
              <a:gd name="adj" fmla="val 937519"/>
            </a:avLst>
          </a:prstGeom>
          <a:solidFill>
            <a:srgbClr val="D7E1EC"/>
          </a:solidFill>
          <a:ln/>
        </p:spPr>
      </p:sp>
      <p:sp>
        <p:nvSpPr>
          <p:cNvPr id="63" name="Shape 54"/>
          <p:cNvSpPr/>
          <p:nvPr/>
        </p:nvSpPr>
        <p:spPr>
          <a:xfrm>
            <a:off x="6437215" y="2078684"/>
            <a:ext cx="323324" cy="48767"/>
          </a:xfrm>
          <a:prstGeom prst="roundRect">
            <a:avLst>
              <a:gd name="adj" fmla="val 937519"/>
            </a:avLst>
          </a:prstGeom>
          <a:solidFill>
            <a:srgbClr val="4F8FD8"/>
          </a:solidFill>
          <a:ln/>
        </p:spPr>
      </p:sp>
      <p:sp>
        <p:nvSpPr>
          <p:cNvPr id="64" name="Text 55"/>
          <p:cNvSpPr txBox="1"/>
          <p:nvPr/>
        </p:nvSpPr>
        <p:spPr>
          <a:xfrm>
            <a:off x="6351873" y="2182313"/>
            <a:ext cx="999719" cy="134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7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</a:t>
            </a:r>
            <a:endParaRPr lang="en-US" sz="670" dirty="0"/>
          </a:p>
        </p:txBody>
      </p:sp>
      <p:pic>
        <p:nvPicPr>
          <p:cNvPr id="6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9803" y="1438620"/>
            <a:ext cx="195067" cy="195067"/>
          </a:xfrm>
          <a:prstGeom prst="rect">
            <a:avLst/>
          </a:prstGeom>
        </p:spPr>
      </p:pic>
      <p:sp>
        <p:nvSpPr>
          <p:cNvPr id="66" name="Text 56"/>
          <p:cNvSpPr txBox="1"/>
          <p:nvPr/>
        </p:nvSpPr>
        <p:spPr>
          <a:xfrm>
            <a:off x="8009944" y="1804371"/>
            <a:ext cx="1194786" cy="207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1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40,593,458,325,000</a:t>
            </a:r>
            <a:endParaRPr lang="en-US" sz="910" dirty="0"/>
          </a:p>
        </p:txBody>
      </p:sp>
      <p:sp>
        <p:nvSpPr>
          <p:cNvPr id="67" name="Shape 57"/>
          <p:cNvSpPr/>
          <p:nvPr/>
        </p:nvSpPr>
        <p:spPr>
          <a:xfrm>
            <a:off x="8095286" y="2078684"/>
            <a:ext cx="1024102" cy="48767"/>
          </a:xfrm>
          <a:prstGeom prst="roundRect">
            <a:avLst>
              <a:gd name="adj" fmla="val 937519"/>
            </a:avLst>
          </a:prstGeom>
          <a:solidFill>
            <a:srgbClr val="D7E1EC"/>
          </a:solidFill>
          <a:ln/>
        </p:spPr>
      </p:sp>
      <p:sp>
        <p:nvSpPr>
          <p:cNvPr id="68" name="Shape 58"/>
          <p:cNvSpPr/>
          <p:nvPr/>
        </p:nvSpPr>
        <p:spPr>
          <a:xfrm>
            <a:off x="8095286" y="2078684"/>
            <a:ext cx="378918" cy="48767"/>
          </a:xfrm>
          <a:prstGeom prst="roundRect">
            <a:avLst>
              <a:gd name="adj" fmla="val 937519"/>
            </a:avLst>
          </a:prstGeom>
          <a:solidFill>
            <a:srgbClr val="4F8FD8"/>
          </a:solidFill>
          <a:ln/>
        </p:spPr>
      </p:sp>
      <p:sp>
        <p:nvSpPr>
          <p:cNvPr id="69" name="Text 59"/>
          <p:cNvSpPr txBox="1"/>
          <p:nvPr/>
        </p:nvSpPr>
        <p:spPr>
          <a:xfrm>
            <a:off x="8009944" y="2182313"/>
            <a:ext cx="1194786" cy="134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7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</a:t>
            </a:r>
            <a:endParaRPr lang="en-US" sz="670" dirty="0"/>
          </a:p>
        </p:txBody>
      </p:sp>
      <p:pic>
        <p:nvPicPr>
          <p:cNvPr id="7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38117" y="1438620"/>
            <a:ext cx="195067" cy="195067"/>
          </a:xfrm>
          <a:prstGeom prst="rect">
            <a:avLst/>
          </a:prstGeom>
        </p:spPr>
      </p:pic>
      <p:sp>
        <p:nvSpPr>
          <p:cNvPr id="71" name="Text 60"/>
          <p:cNvSpPr txBox="1"/>
          <p:nvPr/>
        </p:nvSpPr>
        <p:spPr>
          <a:xfrm>
            <a:off x="9241305" y="1804371"/>
            <a:ext cx="1188690" cy="207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1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84,909,850,000,000</a:t>
            </a:r>
            <a:endParaRPr lang="en-US" sz="910" dirty="0"/>
          </a:p>
        </p:txBody>
      </p:sp>
      <p:sp>
        <p:nvSpPr>
          <p:cNvPr id="72" name="Shape 61"/>
          <p:cNvSpPr/>
          <p:nvPr/>
        </p:nvSpPr>
        <p:spPr>
          <a:xfrm>
            <a:off x="9326647" y="2078684"/>
            <a:ext cx="1018007" cy="48767"/>
          </a:xfrm>
          <a:prstGeom prst="roundRect">
            <a:avLst>
              <a:gd name="adj" fmla="val 937519"/>
            </a:avLst>
          </a:prstGeom>
          <a:solidFill>
            <a:srgbClr val="D7E1EC"/>
          </a:solidFill>
          <a:ln/>
        </p:spPr>
      </p:sp>
      <p:sp>
        <p:nvSpPr>
          <p:cNvPr id="73" name="Shape 62"/>
          <p:cNvSpPr/>
          <p:nvPr/>
        </p:nvSpPr>
        <p:spPr>
          <a:xfrm>
            <a:off x="9326647" y="2078684"/>
            <a:ext cx="570084" cy="48767"/>
          </a:xfrm>
          <a:prstGeom prst="roundRect">
            <a:avLst>
              <a:gd name="adj" fmla="val 937519"/>
            </a:avLst>
          </a:prstGeom>
          <a:solidFill>
            <a:srgbClr val="4F8FD8"/>
          </a:solidFill>
          <a:ln/>
        </p:spPr>
      </p:sp>
      <p:sp>
        <p:nvSpPr>
          <p:cNvPr id="74" name="Text 63"/>
          <p:cNvSpPr txBox="1"/>
          <p:nvPr/>
        </p:nvSpPr>
        <p:spPr>
          <a:xfrm>
            <a:off x="9241305" y="2182313"/>
            <a:ext cx="1188690" cy="134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67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</a:t>
            </a:r>
            <a:endParaRPr lang="en-US" sz="670" dirty="0"/>
          </a:p>
        </p:txBody>
      </p:sp>
      <p:pic>
        <p:nvPicPr>
          <p:cNvPr id="7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36193" y="1438620"/>
            <a:ext cx="195067" cy="195067"/>
          </a:xfrm>
          <a:prstGeom prst="rect">
            <a:avLst/>
          </a:prstGeom>
        </p:spPr>
      </p:pic>
      <p:sp>
        <p:nvSpPr>
          <p:cNvPr id="76" name="Text 64"/>
          <p:cNvSpPr txBox="1"/>
          <p:nvPr/>
        </p:nvSpPr>
        <p:spPr>
          <a:xfrm>
            <a:off x="5352154" y="1804371"/>
            <a:ext cx="963144" cy="2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173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730" dirty="0"/>
          </a:p>
        </p:txBody>
      </p:sp>
      <p:sp>
        <p:nvSpPr>
          <p:cNvPr id="77" name="Shape 65"/>
          <p:cNvSpPr/>
          <p:nvPr/>
        </p:nvSpPr>
        <p:spPr>
          <a:xfrm>
            <a:off x="5449688" y="2182313"/>
            <a:ext cx="768077" cy="54863"/>
          </a:xfrm>
          <a:prstGeom prst="roundRect">
            <a:avLst>
              <a:gd name="adj" fmla="val 833349"/>
            </a:avLst>
          </a:prstGeom>
          <a:solidFill>
            <a:srgbClr val="D7E1EC"/>
          </a:solidFill>
          <a:ln/>
        </p:spPr>
      </p:sp>
      <p:sp>
        <p:nvSpPr>
          <p:cNvPr id="78" name="Shape 66"/>
          <p:cNvSpPr/>
          <p:nvPr/>
        </p:nvSpPr>
        <p:spPr>
          <a:xfrm>
            <a:off x="5449688" y="2182313"/>
            <a:ext cx="360996" cy="54863"/>
          </a:xfrm>
          <a:prstGeom prst="roundRect">
            <a:avLst>
              <a:gd name="adj" fmla="val 833349"/>
            </a:avLst>
          </a:prstGeom>
          <a:solidFill>
            <a:srgbClr val="1E7FE0"/>
          </a:solidFill>
          <a:ln/>
        </p:spPr>
      </p:sp>
      <p:pic>
        <p:nvPicPr>
          <p:cNvPr id="7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07356" y="1438620"/>
            <a:ext cx="195067" cy="195067"/>
          </a:xfrm>
          <a:prstGeom prst="rect">
            <a:avLst/>
          </a:prstGeom>
        </p:spPr>
      </p:pic>
      <p:sp>
        <p:nvSpPr>
          <p:cNvPr id="80" name="Text 67"/>
          <p:cNvSpPr txBox="1"/>
          <p:nvPr/>
        </p:nvSpPr>
        <p:spPr>
          <a:xfrm>
            <a:off x="10466570" y="1804371"/>
            <a:ext cx="676639" cy="2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30" b="1" dirty="0">
                <a:solidFill>
                  <a:srgbClr val="173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730" dirty="0"/>
          </a:p>
        </p:txBody>
      </p:sp>
      <p:sp>
        <p:nvSpPr>
          <p:cNvPr id="81" name="Shape 68"/>
          <p:cNvSpPr/>
          <p:nvPr/>
        </p:nvSpPr>
        <p:spPr>
          <a:xfrm>
            <a:off x="10564104" y="2182313"/>
            <a:ext cx="481572" cy="54863"/>
          </a:xfrm>
          <a:prstGeom prst="roundRect">
            <a:avLst>
              <a:gd name="adj" fmla="val 833349"/>
            </a:avLst>
          </a:prstGeom>
          <a:solidFill>
            <a:srgbClr val="D7E1EC"/>
          </a:solidFill>
          <a:ln/>
        </p:spPr>
      </p:sp>
      <p:sp>
        <p:nvSpPr>
          <p:cNvPr id="82" name="Shape 69"/>
          <p:cNvSpPr/>
          <p:nvPr/>
        </p:nvSpPr>
        <p:spPr>
          <a:xfrm>
            <a:off x="10564104" y="2182313"/>
            <a:ext cx="231155" cy="54863"/>
          </a:xfrm>
          <a:prstGeom prst="roundRect">
            <a:avLst>
              <a:gd name="adj" fmla="val 833349"/>
            </a:avLst>
          </a:prstGeom>
          <a:solidFill>
            <a:srgbClr val="1E7FE0"/>
          </a:solidFill>
          <a:ln/>
        </p:spPr>
      </p:sp>
      <p:pic>
        <p:nvPicPr>
          <p:cNvPr id="8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75433" y="1438620"/>
            <a:ext cx="195067" cy="195067"/>
          </a:xfrm>
          <a:prstGeom prst="rect">
            <a:avLst/>
          </a:prstGeom>
        </p:spPr>
      </p:pic>
      <p:sp>
        <p:nvSpPr>
          <p:cNvPr id="84" name="Text 70"/>
          <p:cNvSpPr txBox="1"/>
          <p:nvPr/>
        </p:nvSpPr>
        <p:spPr>
          <a:xfrm>
            <a:off x="11173689" y="1804371"/>
            <a:ext cx="798556" cy="280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80" b="1" dirty="0">
                <a:solidFill>
                  <a:srgbClr val="D7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-4.05%</a:t>
            </a:r>
            <a:endParaRPr lang="en-US" sz="1580" dirty="0"/>
          </a:p>
        </p:txBody>
      </p:sp>
      <p:sp>
        <p:nvSpPr>
          <p:cNvPr id="85" name="Shape 71"/>
          <p:cNvSpPr/>
          <p:nvPr/>
        </p:nvSpPr>
        <p:spPr>
          <a:xfrm>
            <a:off x="11271222" y="2182313"/>
            <a:ext cx="603489" cy="54863"/>
          </a:xfrm>
          <a:prstGeom prst="roundRect">
            <a:avLst>
              <a:gd name="adj" fmla="val 833349"/>
            </a:avLst>
          </a:prstGeom>
          <a:solidFill>
            <a:srgbClr val="D7E1EC"/>
          </a:solidFill>
          <a:ln/>
        </p:spPr>
      </p:sp>
      <p:sp>
        <p:nvSpPr>
          <p:cNvPr id="86" name="Shape 72"/>
          <p:cNvSpPr/>
          <p:nvPr/>
        </p:nvSpPr>
        <p:spPr>
          <a:xfrm>
            <a:off x="11271222" y="2182313"/>
            <a:ext cx="265535" cy="54863"/>
          </a:xfrm>
          <a:prstGeom prst="roundRect">
            <a:avLst>
              <a:gd name="adj" fmla="val 833349"/>
            </a:avLst>
          </a:prstGeom>
          <a:solidFill>
            <a:srgbClr val="E8384F"/>
          </a:solidFill>
          <a:ln/>
        </p:spPr>
      </p:sp>
      <p:pic>
        <p:nvPicPr>
          <p:cNvPr id="8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86282" y="1438620"/>
            <a:ext cx="195067" cy="195067"/>
          </a:xfrm>
          <a:prstGeom prst="rect">
            <a:avLst/>
          </a:prstGeom>
        </p:spPr>
      </p:pic>
      <p:sp>
        <p:nvSpPr>
          <p:cNvPr id="88" name="Text 73"/>
          <p:cNvSpPr txBox="1"/>
          <p:nvPr/>
        </p:nvSpPr>
        <p:spPr>
          <a:xfrm>
            <a:off x="7388167" y="1914096"/>
            <a:ext cx="591297" cy="195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60" b="1" dirty="0">
                <a:solidFill>
                  <a:srgbClr val="173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</a:t>
            </a:r>
            <a:endParaRPr lang="en-US" sz="960" dirty="0"/>
          </a:p>
        </p:txBody>
      </p:sp>
      <p:sp>
        <p:nvSpPr>
          <p:cNvPr id="89" name="Shape 74"/>
          <p:cNvSpPr/>
          <p:nvPr/>
        </p:nvSpPr>
        <p:spPr>
          <a:xfrm>
            <a:off x="109725" y="2584639"/>
            <a:ext cx="11990532" cy="1347182"/>
          </a:xfrm>
          <a:prstGeom prst="roundRect">
            <a:avLst>
              <a:gd name="adj" fmla="val 5430"/>
            </a:avLst>
          </a:prstGeom>
          <a:solidFill>
            <a:srgbClr val="F7FAFD"/>
          </a:solidFill>
          <a:ln w="9525">
            <a:solidFill>
              <a:srgbClr val="DCE5F0"/>
            </a:solidFill>
            <a:prstDash val="solid"/>
          </a:ln>
          <a:effectLst>
            <a:outerShdw sx="100000" sy="100000" kx="0" ky="0" algn="bl" rotWithShape="0" blurRad="38100" dist="12700" dir="5400000">
              <a:srgbClr val="8FA3BF">
                <a:alpha val="25000"/>
              </a:srgbClr>
            </a:outerShdw>
          </a:effectLst>
        </p:spPr>
      </p:sp>
      <p:pic>
        <p:nvPicPr>
          <p:cNvPr id="9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725" y="2566352"/>
            <a:ext cx="11990532" cy="402326"/>
          </a:xfrm>
          <a:prstGeom prst="rect">
            <a:avLst/>
          </a:prstGeom>
        </p:spPr>
      </p:pic>
      <p:pic>
        <p:nvPicPr>
          <p:cNvPr id="9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0888" y="2651694"/>
            <a:ext cx="231642" cy="231642"/>
          </a:xfrm>
          <a:prstGeom prst="rect">
            <a:avLst/>
          </a:prstGeom>
        </p:spPr>
      </p:pic>
      <p:sp>
        <p:nvSpPr>
          <p:cNvPr id="92" name="Text 75"/>
          <p:cNvSpPr txBox="1"/>
          <p:nvPr/>
        </p:nvSpPr>
        <p:spPr>
          <a:xfrm>
            <a:off x="670543" y="2633406"/>
            <a:ext cx="4267093" cy="268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RAM 2027</a:t>
            </a:r>
            <a:endParaRPr lang="en-US" sz="1440" dirty="0"/>
          </a:p>
        </p:txBody>
      </p:sp>
      <p:sp>
        <p:nvSpPr>
          <p:cNvPr id="93" name="Shape 76"/>
          <p:cNvSpPr/>
          <p:nvPr/>
        </p:nvSpPr>
        <p:spPr>
          <a:xfrm>
            <a:off x="256026" y="3047924"/>
            <a:ext cx="3761138" cy="743693"/>
          </a:xfrm>
          <a:prstGeom prst="roundRect">
            <a:avLst>
              <a:gd name="adj" fmla="val 8607"/>
            </a:avLst>
          </a:prstGeom>
          <a:solidFill>
            <a:srgbClr val="2E8B3E"/>
          </a:solidFill>
          <a:ln/>
        </p:spPr>
      </p:sp>
      <p:sp>
        <p:nvSpPr>
          <p:cNvPr id="94" name="Shape 77"/>
          <p:cNvSpPr/>
          <p:nvPr/>
        </p:nvSpPr>
        <p:spPr>
          <a:xfrm>
            <a:off x="256026" y="3084499"/>
            <a:ext cx="3761138" cy="707118"/>
          </a:xfrm>
          <a:prstGeom prst="roundRect">
            <a:avLst>
              <a:gd name="adj" fmla="val 7759"/>
            </a:avLst>
          </a:prstGeom>
          <a:solidFill>
            <a:srgbClr val="F3F9F4"/>
          </a:solidFill>
          <a:ln w="6350">
            <a:solidFill>
              <a:srgbClr val="D5E8D8"/>
            </a:solidFill>
            <a:prstDash val="solid"/>
          </a:ln>
        </p:spPr>
      </p:sp>
      <p:sp>
        <p:nvSpPr>
          <p:cNvPr id="95" name="Shape 78"/>
          <p:cNvSpPr/>
          <p:nvPr/>
        </p:nvSpPr>
        <p:spPr>
          <a:xfrm>
            <a:off x="262121" y="3084499"/>
            <a:ext cx="3748946" cy="60958"/>
          </a:xfrm>
          <a:prstGeom prst="rect">
            <a:avLst/>
          </a:prstGeom>
          <a:solidFill>
            <a:srgbClr val="F3F9F4"/>
          </a:solidFill>
          <a:ln/>
        </p:spPr>
      </p:sp>
      <p:sp>
        <p:nvSpPr>
          <p:cNvPr id="96" name="Shape 79"/>
          <p:cNvSpPr/>
          <p:nvPr/>
        </p:nvSpPr>
        <p:spPr>
          <a:xfrm>
            <a:off x="390134" y="3163745"/>
            <a:ext cx="536435" cy="536435"/>
          </a:xfrm>
          <a:prstGeom prst="ellipse">
            <a:avLst/>
          </a:prstGeom>
          <a:solidFill>
            <a:srgbClr val="CFE7D2"/>
          </a:solidFill>
          <a:ln/>
        </p:spPr>
      </p:sp>
      <p:pic>
        <p:nvPicPr>
          <p:cNvPr id="9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2051" y="3285662"/>
            <a:ext cx="292601" cy="292601"/>
          </a:xfrm>
          <a:prstGeom prst="rect">
            <a:avLst/>
          </a:prstGeom>
        </p:spPr>
      </p:pic>
      <p:sp>
        <p:nvSpPr>
          <p:cNvPr id="98" name="Text 80"/>
          <p:cNvSpPr txBox="1"/>
          <p:nvPr/>
        </p:nvSpPr>
        <p:spPr>
          <a:xfrm>
            <a:off x="1085061" y="3169841"/>
            <a:ext cx="1060677" cy="231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</a:t>
            </a:r>
            <a:endParaRPr lang="en-US" sz="1300" dirty="0"/>
          </a:p>
        </p:txBody>
      </p:sp>
      <p:sp>
        <p:nvSpPr>
          <p:cNvPr id="99" name="Text 81"/>
          <p:cNvSpPr txBox="1"/>
          <p:nvPr/>
        </p:nvSpPr>
        <p:spPr>
          <a:xfrm>
            <a:off x="1085061" y="3425866"/>
            <a:ext cx="1097253" cy="256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-1</a:t>
            </a:r>
            <a:endParaRPr lang="en-US" sz="1630" dirty="0"/>
          </a:p>
        </p:txBody>
      </p:sp>
      <p:sp>
        <p:nvSpPr>
          <p:cNvPr id="100" name="Shape 82"/>
          <p:cNvSpPr/>
          <p:nvPr/>
        </p:nvSpPr>
        <p:spPr>
          <a:xfrm>
            <a:off x="2206697" y="3249087"/>
            <a:ext cx="0" cy="377943"/>
          </a:xfrm>
          <a:prstGeom prst="line">
            <a:avLst/>
          </a:prstGeom>
          <a:noFill/>
          <a:ln w="9525">
            <a:solidFill>
              <a:srgbClr val="D3D7DD"/>
            </a:solidFill>
            <a:prstDash val="solid"/>
          </a:ln>
        </p:spPr>
      </p:sp>
      <p:sp>
        <p:nvSpPr>
          <p:cNvPr id="101" name="Text 83"/>
          <p:cNvSpPr txBox="1"/>
          <p:nvPr/>
        </p:nvSpPr>
        <p:spPr>
          <a:xfrm>
            <a:off x="2420051" y="3267374"/>
            <a:ext cx="1536154" cy="341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9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atas atau sama dengan</a:t>
            </a:r>
            <a:endParaRPr lang="en-US" sz="89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9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 (masih dalam limit)</a:t>
            </a:r>
            <a:endParaRPr lang="en-US" sz="890" dirty="0"/>
          </a:p>
        </p:txBody>
      </p:sp>
      <p:sp>
        <p:nvSpPr>
          <p:cNvPr id="102" name="Shape 84"/>
          <p:cNvSpPr/>
          <p:nvPr/>
        </p:nvSpPr>
        <p:spPr>
          <a:xfrm>
            <a:off x="4157368" y="3047924"/>
            <a:ext cx="3846480" cy="743693"/>
          </a:xfrm>
          <a:prstGeom prst="roundRect">
            <a:avLst>
              <a:gd name="adj" fmla="val 8607"/>
            </a:avLst>
          </a:prstGeom>
          <a:solidFill>
            <a:srgbClr val="F5C400"/>
          </a:solidFill>
          <a:ln/>
        </p:spPr>
      </p:sp>
      <p:sp>
        <p:nvSpPr>
          <p:cNvPr id="103" name="Shape 85"/>
          <p:cNvSpPr/>
          <p:nvPr/>
        </p:nvSpPr>
        <p:spPr>
          <a:xfrm>
            <a:off x="4157368" y="3084499"/>
            <a:ext cx="3846480" cy="707118"/>
          </a:xfrm>
          <a:prstGeom prst="roundRect">
            <a:avLst>
              <a:gd name="adj" fmla="val 7759"/>
            </a:avLst>
          </a:prstGeom>
          <a:solidFill>
            <a:srgbClr val="FFFBEA"/>
          </a:solidFill>
          <a:ln w="6350">
            <a:solidFill>
              <a:srgbClr val="F2E6B6"/>
            </a:solidFill>
            <a:prstDash val="solid"/>
          </a:ln>
        </p:spPr>
      </p:sp>
      <p:sp>
        <p:nvSpPr>
          <p:cNvPr id="104" name="Shape 86"/>
          <p:cNvSpPr/>
          <p:nvPr/>
        </p:nvSpPr>
        <p:spPr>
          <a:xfrm>
            <a:off x="4163464" y="3084499"/>
            <a:ext cx="3834288" cy="60958"/>
          </a:xfrm>
          <a:prstGeom prst="rect">
            <a:avLst/>
          </a:prstGeom>
          <a:solidFill>
            <a:srgbClr val="FFFBEA"/>
          </a:solidFill>
          <a:ln/>
        </p:spPr>
      </p:sp>
      <p:sp>
        <p:nvSpPr>
          <p:cNvPr id="105" name="Shape 87"/>
          <p:cNvSpPr/>
          <p:nvPr/>
        </p:nvSpPr>
        <p:spPr>
          <a:xfrm>
            <a:off x="4291477" y="3163745"/>
            <a:ext cx="536435" cy="536435"/>
          </a:xfrm>
          <a:prstGeom prst="ellipse">
            <a:avLst/>
          </a:prstGeom>
          <a:solidFill>
            <a:srgbClr val="F7DE84"/>
          </a:solidFill>
          <a:ln/>
        </p:spPr>
      </p:sp>
      <p:pic>
        <p:nvPicPr>
          <p:cNvPr id="10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13394" y="3285662"/>
            <a:ext cx="292601" cy="292601"/>
          </a:xfrm>
          <a:prstGeom prst="rect">
            <a:avLst/>
          </a:prstGeom>
        </p:spPr>
      </p:pic>
      <p:sp>
        <p:nvSpPr>
          <p:cNvPr id="107" name="Text 88"/>
          <p:cNvSpPr txBox="1"/>
          <p:nvPr/>
        </p:nvSpPr>
        <p:spPr>
          <a:xfrm>
            <a:off x="4986403" y="3169841"/>
            <a:ext cx="1139924" cy="231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9A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Appetite</a:t>
            </a:r>
            <a:endParaRPr lang="en-US" sz="1300" dirty="0"/>
          </a:p>
        </p:txBody>
      </p:sp>
      <p:sp>
        <p:nvSpPr>
          <p:cNvPr id="108" name="Text 89"/>
          <p:cNvSpPr txBox="1"/>
          <p:nvPr/>
        </p:nvSpPr>
        <p:spPr>
          <a:xfrm>
            <a:off x="4986403" y="3425866"/>
            <a:ext cx="1176499" cy="256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30" b="1" dirty="0">
                <a:solidFill>
                  <a:srgbClr val="9A7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 ≤ x &lt; -1</a:t>
            </a:r>
            <a:endParaRPr lang="en-US" sz="1630" dirty="0"/>
          </a:p>
        </p:txBody>
      </p:sp>
      <p:sp>
        <p:nvSpPr>
          <p:cNvPr id="109" name="Shape 90"/>
          <p:cNvSpPr/>
          <p:nvPr/>
        </p:nvSpPr>
        <p:spPr>
          <a:xfrm>
            <a:off x="6187285" y="3249087"/>
            <a:ext cx="0" cy="377943"/>
          </a:xfrm>
          <a:prstGeom prst="line">
            <a:avLst/>
          </a:prstGeom>
          <a:noFill/>
          <a:ln w="9525">
            <a:solidFill>
              <a:srgbClr val="D3D7DD"/>
            </a:solidFill>
            <a:prstDash val="solid"/>
          </a:ln>
        </p:spPr>
      </p:sp>
      <p:sp>
        <p:nvSpPr>
          <p:cNvPr id="110" name="Text 91"/>
          <p:cNvSpPr txBox="1"/>
          <p:nvPr/>
        </p:nvSpPr>
        <p:spPr>
          <a:xfrm>
            <a:off x="6400640" y="3267374"/>
            <a:ext cx="1542249" cy="341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9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Antara -3 sampai kurang</a:t>
            </a:r>
            <a:endParaRPr lang="en-US" sz="89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9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-1 (dalam appetite)</a:t>
            </a:r>
            <a:endParaRPr lang="en-US" sz="890" dirty="0"/>
          </a:p>
        </p:txBody>
      </p:sp>
      <p:sp>
        <p:nvSpPr>
          <p:cNvPr id="111" name="Shape 92"/>
          <p:cNvSpPr/>
          <p:nvPr/>
        </p:nvSpPr>
        <p:spPr>
          <a:xfrm>
            <a:off x="8131861" y="3047924"/>
            <a:ext cx="3846480" cy="743693"/>
          </a:xfrm>
          <a:prstGeom prst="roundRect">
            <a:avLst>
              <a:gd name="adj" fmla="val 8607"/>
            </a:avLst>
          </a:prstGeom>
          <a:solidFill>
            <a:srgbClr val="E3141F"/>
          </a:solidFill>
          <a:ln/>
        </p:spPr>
      </p:sp>
      <p:sp>
        <p:nvSpPr>
          <p:cNvPr id="112" name="Shape 93"/>
          <p:cNvSpPr/>
          <p:nvPr/>
        </p:nvSpPr>
        <p:spPr>
          <a:xfrm>
            <a:off x="8131861" y="3084499"/>
            <a:ext cx="3846480" cy="707118"/>
          </a:xfrm>
          <a:prstGeom prst="roundRect">
            <a:avLst>
              <a:gd name="adj" fmla="val 7759"/>
            </a:avLst>
          </a:prstGeom>
          <a:solidFill>
            <a:srgbClr val="FDEEF0"/>
          </a:solidFill>
          <a:ln w="6350">
            <a:solidFill>
              <a:srgbClr val="F3CDD2"/>
            </a:solidFill>
            <a:prstDash val="solid"/>
          </a:ln>
        </p:spPr>
      </p:sp>
      <p:sp>
        <p:nvSpPr>
          <p:cNvPr id="113" name="Shape 94"/>
          <p:cNvSpPr/>
          <p:nvPr/>
        </p:nvSpPr>
        <p:spPr>
          <a:xfrm>
            <a:off x="8137957" y="3084499"/>
            <a:ext cx="3834288" cy="60958"/>
          </a:xfrm>
          <a:prstGeom prst="rect">
            <a:avLst/>
          </a:prstGeom>
          <a:solidFill>
            <a:srgbClr val="FDEEF0"/>
          </a:solidFill>
          <a:ln/>
        </p:spPr>
      </p:sp>
      <p:sp>
        <p:nvSpPr>
          <p:cNvPr id="114" name="Shape 95"/>
          <p:cNvSpPr/>
          <p:nvPr/>
        </p:nvSpPr>
        <p:spPr>
          <a:xfrm>
            <a:off x="8265969" y="3163745"/>
            <a:ext cx="536435" cy="536435"/>
          </a:xfrm>
          <a:prstGeom prst="ellipse">
            <a:avLst/>
          </a:prstGeom>
          <a:solidFill>
            <a:srgbClr val="F0848E"/>
          </a:solidFill>
          <a:ln/>
        </p:spPr>
      </p:sp>
      <p:pic>
        <p:nvPicPr>
          <p:cNvPr id="11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87886" y="3285662"/>
            <a:ext cx="292601" cy="292601"/>
          </a:xfrm>
          <a:prstGeom prst="rect">
            <a:avLst/>
          </a:prstGeom>
        </p:spPr>
      </p:pic>
      <p:sp>
        <p:nvSpPr>
          <p:cNvPr id="116" name="Text 96"/>
          <p:cNvSpPr txBox="1"/>
          <p:nvPr/>
        </p:nvSpPr>
        <p:spPr>
          <a:xfrm>
            <a:off x="8960896" y="3169841"/>
            <a:ext cx="1164307" cy="231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8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Tolerance</a:t>
            </a:r>
            <a:endParaRPr lang="en-US" sz="1300" dirty="0"/>
          </a:p>
        </p:txBody>
      </p:sp>
      <p:sp>
        <p:nvSpPr>
          <p:cNvPr id="117" name="Text 97"/>
          <p:cNvSpPr txBox="1"/>
          <p:nvPr/>
        </p:nvSpPr>
        <p:spPr>
          <a:xfrm>
            <a:off x="8960896" y="3425866"/>
            <a:ext cx="1200882" cy="256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30" b="1" dirty="0">
                <a:solidFill>
                  <a:srgbClr val="C81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 ≤ x &lt; -3</a:t>
            </a:r>
            <a:endParaRPr lang="en-US" sz="1630" dirty="0"/>
          </a:p>
        </p:txBody>
      </p:sp>
      <p:sp>
        <p:nvSpPr>
          <p:cNvPr id="118" name="Shape 98"/>
          <p:cNvSpPr/>
          <p:nvPr/>
        </p:nvSpPr>
        <p:spPr>
          <a:xfrm>
            <a:off x="10186161" y="3249087"/>
            <a:ext cx="0" cy="377943"/>
          </a:xfrm>
          <a:prstGeom prst="line">
            <a:avLst/>
          </a:prstGeom>
          <a:noFill/>
          <a:ln w="9525">
            <a:solidFill>
              <a:srgbClr val="D3D7DD"/>
            </a:solidFill>
            <a:prstDash val="solid"/>
          </a:ln>
        </p:spPr>
      </p:sp>
      <p:sp>
        <p:nvSpPr>
          <p:cNvPr id="119" name="Text 99"/>
          <p:cNvSpPr txBox="1"/>
          <p:nvPr/>
        </p:nvSpPr>
        <p:spPr>
          <a:xfrm>
            <a:off x="10399516" y="3267374"/>
            <a:ext cx="1517866" cy="3413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9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Antara -5 sampai kurang</a:t>
            </a:r>
            <a:endParaRPr lang="en-US" sz="89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89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-3 (dalam tolerance)</a:t>
            </a:r>
            <a:endParaRPr lang="en-US" sz="8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Realisasi Parameter 2027 - NPK</dc:title>
  <dc:subject>PptxGenJS Presentation</dc:subject>
  <dc:creator>PptxGenJS</dc:creator>
  <cp:lastModifiedBy>PptxGenJS</cp:lastModifiedBy>
  <cp:revision>1</cp:revision>
  <dcterms:created xsi:type="dcterms:W3CDTF">2026-10-19T03:27:44Z</dcterms:created>
  <dcterms:modified xsi:type="dcterms:W3CDTF">2026-10-19T03:27:44Z</dcterms:modified>
</cp:coreProperties>
</file>